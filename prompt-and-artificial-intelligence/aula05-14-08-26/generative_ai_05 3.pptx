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494" r:id="rId5"/>
    <p:sldId id="539" r:id="rId6"/>
    <p:sldId id="541" r:id="rId7"/>
    <p:sldId id="512" r:id="rId8"/>
    <p:sldId id="542" r:id="rId9"/>
    <p:sldId id="543" r:id="rId10"/>
    <p:sldId id="544" r:id="rId11"/>
    <p:sldId id="47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BBCA"/>
    <a:srgbClr val="28808C"/>
    <a:srgbClr val="E8E8E8"/>
    <a:srgbClr val="3B3838"/>
    <a:srgbClr val="EFEFEF"/>
    <a:srgbClr val="F2F2F2"/>
    <a:srgbClr val="E1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7FD478-6A20-860D-5B09-A1C16C958DAC}" v="60" dt="2026-08-15T00:37:41.3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Riquelme Coutinho Pereira" userId="S::rm569619@fiap.com.br::b9cc4051-34bd-4b3c-924a-92d585f6c2e9" providerId="AD" clId="Web-{0B7FD478-6A20-860D-5B09-A1C16C958DAC}"/>
    <pc:docChg chg="modSld">
      <pc:chgData name="Bruno Riquelme Coutinho Pereira" userId="S::rm569619@fiap.com.br::b9cc4051-34bd-4b3c-924a-92d585f6c2e9" providerId="AD" clId="Web-{0B7FD478-6A20-860D-5B09-A1C16C958DAC}" dt="2026-08-15T00:37:41.364" v="33"/>
      <pc:docMkLst>
        <pc:docMk/>
      </pc:docMkLst>
      <pc:sldChg chg="modSp">
        <pc:chgData name="Bruno Riquelme Coutinho Pereira" userId="S::rm569619@fiap.com.br::b9cc4051-34bd-4b3c-924a-92d585f6c2e9" providerId="AD" clId="Web-{0B7FD478-6A20-860D-5B09-A1C16C958DAC}" dt="2026-08-15T00:36:46.330" v="2" actId="20577"/>
        <pc:sldMkLst>
          <pc:docMk/>
          <pc:sldMk cId="7252165" sldId="494"/>
        </pc:sldMkLst>
        <pc:spChg chg="mod">
          <ac:chgData name="Bruno Riquelme Coutinho Pereira" userId="S::rm569619@fiap.com.br::b9cc4051-34bd-4b3c-924a-92d585f6c2e9" providerId="AD" clId="Web-{0B7FD478-6A20-860D-5B09-A1C16C958DAC}" dt="2026-08-15T00:36:46.330" v="2" actId="20577"/>
          <ac:spMkLst>
            <pc:docMk/>
            <pc:sldMk cId="7252165" sldId="494"/>
            <ac:spMk id="8" creationId="{9DFCF87E-5DE6-BEEE-F780-ED611388B6F5}"/>
          </ac:spMkLst>
        </pc:spChg>
      </pc:sldChg>
      <pc:sldChg chg="addSp delSp modSp">
        <pc:chgData name="Bruno Riquelme Coutinho Pereira" userId="S::rm569619@fiap.com.br::b9cc4051-34bd-4b3c-924a-92d585f6c2e9" providerId="AD" clId="Web-{0B7FD478-6A20-860D-5B09-A1C16C958DAC}" dt="2026-08-15T00:37:41.364" v="33"/>
        <pc:sldMkLst>
          <pc:docMk/>
          <pc:sldMk cId="3648877646" sldId="539"/>
        </pc:sldMkLst>
        <pc:spChg chg="add del">
          <ac:chgData name="Bruno Riquelme Coutinho Pereira" userId="S::rm569619@fiap.com.br::b9cc4051-34bd-4b3c-924a-92d585f6c2e9" providerId="AD" clId="Web-{0B7FD478-6A20-860D-5B09-A1C16C958DAC}" dt="2026-08-15T00:37:06.300" v="4"/>
          <ac:spMkLst>
            <pc:docMk/>
            <pc:sldMk cId="3648877646" sldId="539"/>
            <ac:spMk id="2" creationId="{ABE5B91A-AE4F-8904-CC3E-03671168D5A2}"/>
          </ac:spMkLst>
        </pc:spChg>
        <pc:spChg chg="add del">
          <ac:chgData name="Bruno Riquelme Coutinho Pereira" userId="S::rm569619@fiap.com.br::b9cc4051-34bd-4b3c-924a-92d585f6c2e9" providerId="AD" clId="Web-{0B7FD478-6A20-860D-5B09-A1C16C958DAC}" dt="2026-08-15T00:37:17.409" v="6"/>
          <ac:spMkLst>
            <pc:docMk/>
            <pc:sldMk cId="3648877646" sldId="539"/>
            <ac:spMk id="3" creationId="{D25498F4-342F-AA9C-2530-CF8B4F1AC5BF}"/>
          </ac:spMkLst>
        </pc:spChg>
        <pc:spChg chg="add del mod">
          <ac:chgData name="Bruno Riquelme Coutinho Pereira" userId="S::rm569619@fiap.com.br::b9cc4051-34bd-4b3c-924a-92d585f6c2e9" providerId="AD" clId="Web-{0B7FD478-6A20-860D-5B09-A1C16C958DAC}" dt="2026-08-15T00:37:41.364" v="33"/>
          <ac:spMkLst>
            <pc:docMk/>
            <pc:sldMk cId="3648877646" sldId="539"/>
            <ac:spMk id="5" creationId="{6151F26E-85E9-7E11-A40F-04538D12CE5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91264E-AC11-49ED-AD2F-803236C938B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D53D7E-9AFB-4117-96C0-896D5056A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10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F8D56D-E775-477C-AD95-1624ABAC5B3D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3106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131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124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218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8040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423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6854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7690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3913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1532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4528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A898-6C31-4D9A-9050-0C7575745A8F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8E47-1DA0-471C-80CF-D1753B2158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541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EA898-6C31-4D9A-9050-0C7575745A8F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68E47-1DA0-471C-80CF-D1753B21588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315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80088-560C-94BA-9C03-0E07A3187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016CDF6-E1F0-2D49-F806-FED876A5B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6" b="7746"/>
          <a:stretch/>
        </p:blipFill>
        <p:spPr bwMode="auto">
          <a:xfrm>
            <a:off x="5692571" y="0"/>
            <a:ext cx="8115299" cy="6858000"/>
          </a:xfrm>
          <a:custGeom>
            <a:avLst/>
            <a:gdLst>
              <a:gd name="connsiteX0" fmla="*/ 1399375 w 8115299"/>
              <a:gd name="connsiteY0" fmla="*/ 0 h 6858000"/>
              <a:gd name="connsiteX1" fmla="*/ 8115299 w 8115299"/>
              <a:gd name="connsiteY1" fmla="*/ 0 h 6858000"/>
              <a:gd name="connsiteX2" fmla="*/ 6715924 w 8115299"/>
              <a:gd name="connsiteY2" fmla="*/ 6858000 h 6858000"/>
              <a:gd name="connsiteX3" fmla="*/ 0 w 81152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15299" h="6858000">
                <a:moveTo>
                  <a:pt x="1399375" y="0"/>
                </a:moveTo>
                <a:lnTo>
                  <a:pt x="8115299" y="0"/>
                </a:lnTo>
                <a:lnTo>
                  <a:pt x="6715924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ço Reservado para Texto 43">
            <a:extLst>
              <a:ext uri="{FF2B5EF4-FFF2-40B4-BE49-F238E27FC236}">
                <a16:creationId xmlns:a16="http://schemas.microsoft.com/office/drawing/2014/main" id="{9DFCF87E-5DE6-BEEE-F780-ED611388B6F5}"/>
              </a:ext>
            </a:extLst>
          </p:cNvPr>
          <p:cNvSpPr txBox="1">
            <a:spLocks/>
          </p:cNvSpPr>
          <p:nvPr/>
        </p:nvSpPr>
        <p:spPr>
          <a:xfrm>
            <a:off x="576271" y="2145234"/>
            <a:ext cx="4705943" cy="1736049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kumimoji="0" lang="pt-BR" sz="4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ypo Grotesk"/>
              </a:rPr>
              <a:t>Embeddings</a:t>
            </a:r>
            <a:r>
              <a:rPr kumimoji="0" lang="pt-BR" sz="4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ypo Grotesk"/>
              </a:rPr>
              <a:t> </a:t>
            </a:r>
            <a:r>
              <a:rPr lang="pt-BR" sz="4800">
                <a:solidFill>
                  <a:prstClr val="black"/>
                </a:solidFill>
                <a:latin typeface="Typo Grotesk"/>
              </a:rPr>
              <a:t>+ </a:t>
            </a:r>
            <a:r>
              <a:rPr kumimoji="0" lang="pt-BR" sz="4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ypo Grotesk"/>
              </a:rPr>
              <a:t>Gen</a:t>
            </a:r>
            <a:r>
              <a:rPr kumimoji="0" lang="pt-BR" sz="4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ypo Grotesk"/>
              </a:rPr>
              <a:t> AI = RAG</a:t>
            </a:r>
            <a:endParaRPr lang="pt-BR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mooth Circulars"/>
            </a:endParaRPr>
          </a:p>
        </p:txBody>
      </p:sp>
    </p:spTree>
    <p:extLst>
      <p:ext uri="{BB962C8B-B14F-4D97-AF65-F5344CB8AC3E}">
        <p14:creationId xmlns:p14="http://schemas.microsoft.com/office/powerpoint/2010/main" val="7252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1;p26">
            <a:extLst>
              <a:ext uri="{FF2B5EF4-FFF2-40B4-BE49-F238E27FC236}">
                <a16:creationId xmlns:a16="http://schemas.microsoft.com/office/drawing/2014/main" id="{01BFC755-9ECA-9EC7-B480-AB038B42E085}"/>
              </a:ext>
            </a:extLst>
          </p:cNvPr>
          <p:cNvSpPr txBox="1">
            <a:spLocks/>
          </p:cNvSpPr>
          <p:nvPr/>
        </p:nvSpPr>
        <p:spPr>
          <a:xfrm>
            <a:off x="803192" y="1227746"/>
            <a:ext cx="4772504" cy="202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800"/>
              </a:spcAft>
              <a:buClr>
                <a:srgbClr val="44BBCA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sansLight" panose="02000603020000020003"/>
              <a:ea typeface="+mn-ea"/>
              <a:cs typeface="+mn-cs"/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2812210F-9B13-5D25-0846-804CBA735F8A}"/>
              </a:ext>
            </a:extLst>
          </p:cNvPr>
          <p:cNvGrpSpPr/>
          <p:nvPr/>
        </p:nvGrpSpPr>
        <p:grpSpPr>
          <a:xfrm>
            <a:off x="773528" y="805451"/>
            <a:ext cx="5322471" cy="512262"/>
            <a:chOff x="5715000" y="220539"/>
            <a:chExt cx="1981200" cy="512262"/>
          </a:xfrm>
        </p:grpSpPr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13A5006A-48FD-0439-1788-7EB52867CA46}"/>
                </a:ext>
              </a:extLst>
            </p:cNvPr>
            <p:cNvSpPr/>
            <p:nvPr/>
          </p:nvSpPr>
          <p:spPr>
            <a:xfrm>
              <a:off x="5715000" y="220539"/>
              <a:ext cx="1981200" cy="512262"/>
            </a:xfrm>
            <a:prstGeom prst="parallelogram">
              <a:avLst>
                <a:gd name="adj" fmla="val 29578"/>
              </a:avLst>
            </a:prstGeom>
            <a:gradFill flip="none" rotWithShape="1">
              <a:gsLst>
                <a:gs pos="0">
                  <a:srgbClr val="44BBCA"/>
                </a:gs>
                <a:gs pos="100000">
                  <a:srgbClr val="28808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spaço Reservado para Texto 43">
              <a:extLst>
                <a:ext uri="{FF2B5EF4-FFF2-40B4-BE49-F238E27FC236}">
                  <a16:creationId xmlns:a16="http://schemas.microsoft.com/office/drawing/2014/main" id="{1EC4AF87-64FD-1958-093B-3402E0C1D29B}"/>
                </a:ext>
              </a:extLst>
            </p:cNvPr>
            <p:cNvSpPr txBox="1">
              <a:spLocks/>
            </p:cNvSpPr>
            <p:nvPr/>
          </p:nvSpPr>
          <p:spPr>
            <a:xfrm>
              <a:off x="5892214" y="311681"/>
              <a:ext cx="1626771" cy="329979"/>
            </a:xfrm>
            <a:prstGeom prst="rect">
              <a:avLst/>
            </a:prstGeom>
          </p:spPr>
          <p:txBody>
            <a:bodyPr rtlCol="0"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BR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lish"/>
                </a:rPr>
                <a:t>Word </a:t>
              </a:r>
              <a:r>
                <a:rPr kumimoji="0" lang="pt-BR" b="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lish"/>
                </a:rPr>
                <a:t>representation</a:t>
              </a: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sh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5A30A9E-7161-0C22-3C2D-8C6777C36D07}"/>
              </a:ext>
            </a:extLst>
          </p:cNvPr>
          <p:cNvSpPr/>
          <p:nvPr/>
        </p:nvSpPr>
        <p:spPr>
          <a:xfrm>
            <a:off x="4186163" y="4828478"/>
            <a:ext cx="3497027" cy="455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D8D0225-3BB4-59E8-A18B-F564FAB58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92" y="4310786"/>
            <a:ext cx="6187816" cy="2409191"/>
          </a:xfrm>
          <a:prstGeom prst="rect">
            <a:avLst/>
          </a:prstGeom>
        </p:spPr>
      </p:pic>
      <p:pic>
        <p:nvPicPr>
          <p:cNvPr id="5122" name="Picture 2" descr="A Guide to Word Embedding. What are they? How are they more useful… | by  Shraddha Anala | Towards Data Science">
            <a:extLst>
              <a:ext uri="{FF2B5EF4-FFF2-40B4-BE49-F238E27FC236}">
                <a16:creationId xmlns:a16="http://schemas.microsoft.com/office/drawing/2014/main" id="{A1411EB5-5FC8-C6DD-4BAF-110B7B1E5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06" y="1408855"/>
            <a:ext cx="8005313" cy="3096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8877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1;p26">
            <a:extLst>
              <a:ext uri="{FF2B5EF4-FFF2-40B4-BE49-F238E27FC236}">
                <a16:creationId xmlns:a16="http://schemas.microsoft.com/office/drawing/2014/main" id="{01BFC755-9ECA-9EC7-B480-AB038B42E085}"/>
              </a:ext>
            </a:extLst>
          </p:cNvPr>
          <p:cNvSpPr txBox="1">
            <a:spLocks/>
          </p:cNvSpPr>
          <p:nvPr/>
        </p:nvSpPr>
        <p:spPr>
          <a:xfrm>
            <a:off x="803192" y="1227746"/>
            <a:ext cx="4772504" cy="202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800"/>
              </a:spcAft>
              <a:buClr>
                <a:srgbClr val="44BBCA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sansLight" panose="02000603020000020003"/>
              <a:ea typeface="+mn-ea"/>
              <a:cs typeface="+mn-cs"/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2812210F-9B13-5D25-0846-804CBA735F8A}"/>
              </a:ext>
            </a:extLst>
          </p:cNvPr>
          <p:cNvGrpSpPr/>
          <p:nvPr/>
        </p:nvGrpSpPr>
        <p:grpSpPr>
          <a:xfrm>
            <a:off x="773528" y="805451"/>
            <a:ext cx="5322471" cy="512262"/>
            <a:chOff x="5715000" y="220539"/>
            <a:chExt cx="1981200" cy="512262"/>
          </a:xfrm>
        </p:grpSpPr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13A5006A-48FD-0439-1788-7EB52867CA46}"/>
                </a:ext>
              </a:extLst>
            </p:cNvPr>
            <p:cNvSpPr/>
            <p:nvPr/>
          </p:nvSpPr>
          <p:spPr>
            <a:xfrm>
              <a:off x="5715000" y="220539"/>
              <a:ext cx="1981200" cy="512262"/>
            </a:xfrm>
            <a:prstGeom prst="parallelogram">
              <a:avLst>
                <a:gd name="adj" fmla="val 29578"/>
              </a:avLst>
            </a:prstGeom>
            <a:gradFill flip="none" rotWithShape="1">
              <a:gsLst>
                <a:gs pos="0">
                  <a:srgbClr val="44BBCA"/>
                </a:gs>
                <a:gs pos="100000">
                  <a:srgbClr val="28808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spaço Reservado para Texto 43">
              <a:extLst>
                <a:ext uri="{FF2B5EF4-FFF2-40B4-BE49-F238E27FC236}">
                  <a16:creationId xmlns:a16="http://schemas.microsoft.com/office/drawing/2014/main" id="{1EC4AF87-64FD-1958-093B-3402E0C1D29B}"/>
                </a:ext>
              </a:extLst>
            </p:cNvPr>
            <p:cNvSpPr txBox="1">
              <a:spLocks/>
            </p:cNvSpPr>
            <p:nvPr/>
          </p:nvSpPr>
          <p:spPr>
            <a:xfrm>
              <a:off x="5892214" y="311681"/>
              <a:ext cx="1626771" cy="329979"/>
            </a:xfrm>
            <a:prstGeom prst="rect">
              <a:avLst/>
            </a:prstGeom>
          </p:spPr>
          <p:txBody>
            <a:bodyPr rtlCol="0"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BR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lish"/>
                </a:rPr>
                <a:t>Word </a:t>
              </a:r>
              <a:r>
                <a:rPr kumimoji="0" lang="pt-BR" b="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lish"/>
                </a:rPr>
                <a:t>representation</a:t>
              </a:r>
              <a:endPara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sh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5A30A9E-7161-0C22-3C2D-8C6777C36D07}"/>
              </a:ext>
            </a:extLst>
          </p:cNvPr>
          <p:cNvSpPr/>
          <p:nvPr/>
        </p:nvSpPr>
        <p:spPr>
          <a:xfrm>
            <a:off x="4186163" y="4828478"/>
            <a:ext cx="3497027" cy="455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E2EB0B-39DF-F858-31A7-32110A7A288B}"/>
              </a:ext>
            </a:extLst>
          </p:cNvPr>
          <p:cNvSpPr txBox="1"/>
          <p:nvPr/>
        </p:nvSpPr>
        <p:spPr>
          <a:xfrm>
            <a:off x="1962044" y="586788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https://projector.tensorflow.org/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9CE66E4-8830-CBBA-4C29-3106CE483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79" y="1573659"/>
            <a:ext cx="6289346" cy="395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641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1;p26">
            <a:extLst>
              <a:ext uri="{FF2B5EF4-FFF2-40B4-BE49-F238E27FC236}">
                <a16:creationId xmlns:a16="http://schemas.microsoft.com/office/drawing/2014/main" id="{01BFC755-9ECA-9EC7-B480-AB038B42E085}"/>
              </a:ext>
            </a:extLst>
          </p:cNvPr>
          <p:cNvSpPr txBox="1">
            <a:spLocks/>
          </p:cNvSpPr>
          <p:nvPr/>
        </p:nvSpPr>
        <p:spPr>
          <a:xfrm>
            <a:off x="803192" y="1227746"/>
            <a:ext cx="4772504" cy="202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800"/>
              </a:spcAft>
              <a:buClr>
                <a:srgbClr val="44BBCA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sansLight" panose="02000603020000020003"/>
              <a:ea typeface="+mn-ea"/>
              <a:cs typeface="+mn-cs"/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2812210F-9B13-5D25-0846-804CBA735F8A}"/>
              </a:ext>
            </a:extLst>
          </p:cNvPr>
          <p:cNvGrpSpPr/>
          <p:nvPr/>
        </p:nvGrpSpPr>
        <p:grpSpPr>
          <a:xfrm>
            <a:off x="773528" y="805451"/>
            <a:ext cx="5322471" cy="512262"/>
            <a:chOff x="5715000" y="220539"/>
            <a:chExt cx="1981200" cy="512262"/>
          </a:xfrm>
        </p:grpSpPr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13A5006A-48FD-0439-1788-7EB52867CA46}"/>
                </a:ext>
              </a:extLst>
            </p:cNvPr>
            <p:cNvSpPr/>
            <p:nvPr/>
          </p:nvSpPr>
          <p:spPr>
            <a:xfrm>
              <a:off x="5715000" y="220539"/>
              <a:ext cx="1981200" cy="512262"/>
            </a:xfrm>
            <a:prstGeom prst="parallelogram">
              <a:avLst>
                <a:gd name="adj" fmla="val 29578"/>
              </a:avLst>
            </a:prstGeom>
            <a:gradFill flip="none" rotWithShape="1">
              <a:gsLst>
                <a:gs pos="0">
                  <a:srgbClr val="44BBCA"/>
                </a:gs>
                <a:gs pos="100000">
                  <a:srgbClr val="28808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spaço Reservado para Texto 43">
              <a:extLst>
                <a:ext uri="{FF2B5EF4-FFF2-40B4-BE49-F238E27FC236}">
                  <a16:creationId xmlns:a16="http://schemas.microsoft.com/office/drawing/2014/main" id="{1EC4AF87-64FD-1958-093B-3402E0C1D29B}"/>
                </a:ext>
              </a:extLst>
            </p:cNvPr>
            <p:cNvSpPr txBox="1">
              <a:spLocks/>
            </p:cNvSpPr>
            <p:nvPr/>
          </p:nvSpPr>
          <p:spPr>
            <a:xfrm>
              <a:off x="5892214" y="311681"/>
              <a:ext cx="1626771" cy="329979"/>
            </a:xfrm>
            <a:prstGeom prst="rect">
              <a:avLst/>
            </a:prstGeom>
          </p:spPr>
          <p:txBody>
            <a:bodyPr rtlCol="0"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BR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lish"/>
                </a:rPr>
                <a:t>O que é RAG</a:t>
              </a:r>
              <a:endPara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sh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5A30A9E-7161-0C22-3C2D-8C6777C36D07}"/>
              </a:ext>
            </a:extLst>
          </p:cNvPr>
          <p:cNvSpPr/>
          <p:nvPr/>
        </p:nvSpPr>
        <p:spPr>
          <a:xfrm>
            <a:off x="4186163" y="4828478"/>
            <a:ext cx="3497027" cy="455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941B3CD-9334-4024-E236-DC8C376B8C6C}"/>
              </a:ext>
            </a:extLst>
          </p:cNvPr>
          <p:cNvSpPr txBox="1"/>
          <p:nvPr/>
        </p:nvSpPr>
        <p:spPr>
          <a:xfrm>
            <a:off x="773527" y="1735033"/>
            <a:ext cx="934525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Retrieval-Augmented Generation (RAG) </a:t>
            </a:r>
            <a:r>
              <a:rPr lang="en-US"/>
              <a:t>é um </a:t>
            </a:r>
            <a:r>
              <a:rPr lang="en-US" err="1"/>
              <a:t>sistema</a:t>
            </a:r>
            <a:r>
              <a:rPr lang="en-US"/>
              <a:t> de </a:t>
            </a:r>
            <a:r>
              <a:rPr lang="en-US" err="1"/>
              <a:t>conhecimento</a:t>
            </a:r>
            <a:r>
              <a:rPr lang="en-US"/>
              <a:t> que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fornecer</a:t>
            </a:r>
            <a:r>
              <a:rPr lang="en-US"/>
              <a:t> um ChatGPT </a:t>
            </a:r>
            <a:r>
              <a:rPr lang="en-US" err="1"/>
              <a:t>pessoal</a:t>
            </a:r>
            <a:r>
              <a:rPr lang="en-US"/>
              <a:t> para </a:t>
            </a:r>
            <a:r>
              <a:rPr lang="en-US" err="1"/>
              <a:t>os</a:t>
            </a:r>
            <a:r>
              <a:rPr lang="en-US"/>
              <a:t> dados da </a:t>
            </a:r>
            <a:r>
              <a:rPr lang="en-US" err="1"/>
              <a:t>sua</a:t>
            </a:r>
            <a:r>
              <a:rPr lang="en-US"/>
              <a:t> </a:t>
            </a:r>
            <a:r>
              <a:rPr lang="en-US" err="1"/>
              <a:t>empresa</a:t>
            </a:r>
            <a:r>
              <a:rPr lang="en-US"/>
              <a:t>, </a:t>
            </a:r>
            <a:r>
              <a:rPr lang="en-US" err="1"/>
              <a:t>facilitando</a:t>
            </a:r>
            <a:r>
              <a:rPr lang="en-US"/>
              <a:t> a </a:t>
            </a:r>
            <a:r>
              <a:rPr lang="en-US" err="1"/>
              <a:t>localização</a:t>
            </a:r>
            <a:r>
              <a:rPr lang="en-US"/>
              <a:t> e </a:t>
            </a:r>
            <a:r>
              <a:rPr lang="en-US" err="1"/>
              <a:t>utilização</a:t>
            </a:r>
            <a:r>
              <a:rPr lang="en-US"/>
              <a:t> do </a:t>
            </a:r>
            <a:r>
              <a:rPr lang="en-US" err="1"/>
              <a:t>conhecimento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.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ajudá</a:t>
            </a:r>
            <a:r>
              <a:rPr lang="en-US"/>
              <a:t>-lo a </a:t>
            </a:r>
            <a:r>
              <a:rPr lang="en-US" err="1"/>
              <a:t>interagir</a:t>
            </a:r>
            <a:r>
              <a:rPr lang="en-US"/>
              <a:t> com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grande</a:t>
            </a:r>
            <a:r>
              <a:rPr lang="en-US"/>
              <a:t> </a:t>
            </a:r>
            <a:r>
              <a:rPr lang="en-US" err="1"/>
              <a:t>quantidade</a:t>
            </a:r>
            <a:r>
              <a:rPr lang="en-US"/>
              <a:t> de </a:t>
            </a:r>
            <a:r>
              <a:rPr lang="en-US" err="1"/>
              <a:t>informações</a:t>
            </a:r>
            <a:r>
              <a:rPr lang="en-US"/>
              <a:t> de forma </a:t>
            </a:r>
            <a:r>
              <a:rPr lang="en-US" err="1"/>
              <a:t>rápida</a:t>
            </a:r>
            <a:r>
              <a:rPr lang="en-US"/>
              <a:t> e </a:t>
            </a:r>
            <a:r>
              <a:rPr lang="en-US" err="1"/>
              <a:t>eficiente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sistemas</a:t>
            </a:r>
            <a:r>
              <a:rPr lang="en-US"/>
              <a:t> RAG </a:t>
            </a:r>
            <a:r>
              <a:rPr lang="en-US" err="1"/>
              <a:t>funcionam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duas </a:t>
            </a:r>
            <a:r>
              <a:rPr lang="en-US" err="1"/>
              <a:t>etapas</a:t>
            </a:r>
            <a:r>
              <a:rPr lang="en-US"/>
              <a:t>:</a:t>
            </a:r>
          </a:p>
          <a:p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 b="1" err="1"/>
              <a:t>Recuperação</a:t>
            </a:r>
            <a:r>
              <a:rPr lang="en-US" b="1"/>
              <a:t>: </a:t>
            </a:r>
            <a:r>
              <a:rPr lang="en-US"/>
              <a:t>O </a:t>
            </a:r>
            <a:r>
              <a:rPr lang="en-US" err="1"/>
              <a:t>sistema</a:t>
            </a:r>
            <a:r>
              <a:rPr lang="en-US"/>
              <a:t> </a:t>
            </a:r>
            <a:r>
              <a:rPr lang="en-US" err="1"/>
              <a:t>vasculha</a:t>
            </a:r>
            <a:r>
              <a:rPr lang="en-US"/>
              <a:t> </a:t>
            </a:r>
            <a:r>
              <a:rPr lang="en-US" err="1"/>
              <a:t>seus</a:t>
            </a:r>
            <a:r>
              <a:rPr lang="en-US"/>
              <a:t> dados para </a:t>
            </a:r>
            <a:r>
              <a:rPr lang="en-US" err="1"/>
              <a:t>encontrar</a:t>
            </a:r>
            <a:r>
              <a:rPr lang="en-US"/>
              <a:t> </a:t>
            </a:r>
            <a:r>
              <a:rPr lang="en-US" err="1"/>
              <a:t>informações</a:t>
            </a:r>
            <a:r>
              <a:rPr lang="en-US"/>
              <a:t> </a:t>
            </a:r>
            <a:r>
              <a:rPr lang="en-US" err="1"/>
              <a:t>úteis</a:t>
            </a:r>
            <a:r>
              <a:rPr lang="en-US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 b="1" err="1"/>
              <a:t>Geração</a:t>
            </a:r>
            <a:r>
              <a:rPr lang="en-US" b="1"/>
              <a:t>: </a:t>
            </a:r>
            <a:r>
              <a:rPr lang="en-US"/>
              <a:t>um </a:t>
            </a:r>
            <a:r>
              <a:rPr lang="en-US" err="1"/>
              <a:t>modelo</a:t>
            </a:r>
            <a:r>
              <a:rPr lang="en-US"/>
              <a:t> </a:t>
            </a:r>
            <a:r>
              <a:rPr lang="en-US" err="1"/>
              <a:t>generativo</a:t>
            </a:r>
            <a:r>
              <a:rPr lang="en-US"/>
              <a:t> de IA </a:t>
            </a:r>
            <a:r>
              <a:rPr lang="en-US" err="1"/>
              <a:t>usa</a:t>
            </a:r>
            <a:r>
              <a:rPr lang="en-US"/>
              <a:t> as </a:t>
            </a:r>
            <a:r>
              <a:rPr lang="en-US" err="1"/>
              <a:t>informações</a:t>
            </a:r>
            <a:r>
              <a:rPr lang="en-US"/>
              <a:t> </a:t>
            </a:r>
            <a:r>
              <a:rPr lang="en-US" err="1"/>
              <a:t>recuperadas</a:t>
            </a:r>
            <a:r>
              <a:rPr lang="en-US"/>
              <a:t> para </a:t>
            </a:r>
            <a:r>
              <a:rPr lang="en-US" err="1"/>
              <a:t>criar</a:t>
            </a:r>
            <a:r>
              <a:rPr lang="en-US"/>
              <a:t> </a:t>
            </a:r>
            <a:r>
              <a:rPr lang="en-US" err="1"/>
              <a:t>respostas</a:t>
            </a:r>
            <a:r>
              <a:rPr lang="en-US"/>
              <a:t> </a:t>
            </a:r>
            <a:r>
              <a:rPr lang="en-US" err="1"/>
              <a:t>claras</a:t>
            </a:r>
            <a:r>
              <a:rPr lang="en-US"/>
              <a:t> e </a:t>
            </a:r>
            <a:r>
              <a:rPr lang="en-US" err="1"/>
              <a:t>precisas</a:t>
            </a:r>
            <a:r>
              <a:rPr lang="en-US"/>
              <a:t> </a:t>
            </a:r>
            <a:r>
              <a:rPr lang="en-US" err="1"/>
              <a:t>às</a:t>
            </a:r>
            <a:r>
              <a:rPr lang="en-US"/>
              <a:t> </a:t>
            </a:r>
            <a:r>
              <a:rPr lang="en-US" err="1"/>
              <a:t>suas</a:t>
            </a:r>
            <a:r>
              <a:rPr lang="en-US"/>
              <a:t> </a:t>
            </a:r>
            <a:r>
              <a:rPr lang="en-US" err="1"/>
              <a:t>perguntas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8859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1;p26">
            <a:extLst>
              <a:ext uri="{FF2B5EF4-FFF2-40B4-BE49-F238E27FC236}">
                <a16:creationId xmlns:a16="http://schemas.microsoft.com/office/drawing/2014/main" id="{01BFC755-9ECA-9EC7-B480-AB038B42E085}"/>
              </a:ext>
            </a:extLst>
          </p:cNvPr>
          <p:cNvSpPr txBox="1">
            <a:spLocks/>
          </p:cNvSpPr>
          <p:nvPr/>
        </p:nvSpPr>
        <p:spPr>
          <a:xfrm>
            <a:off x="803192" y="1227746"/>
            <a:ext cx="4772504" cy="202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800"/>
              </a:spcAft>
              <a:buClr>
                <a:srgbClr val="44BBCA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sansLight" panose="02000603020000020003"/>
              <a:ea typeface="+mn-ea"/>
              <a:cs typeface="+mn-cs"/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2812210F-9B13-5D25-0846-804CBA735F8A}"/>
              </a:ext>
            </a:extLst>
          </p:cNvPr>
          <p:cNvGrpSpPr/>
          <p:nvPr/>
        </p:nvGrpSpPr>
        <p:grpSpPr>
          <a:xfrm>
            <a:off x="773528" y="805451"/>
            <a:ext cx="5322471" cy="512262"/>
            <a:chOff x="5715000" y="220539"/>
            <a:chExt cx="1981200" cy="512262"/>
          </a:xfrm>
        </p:grpSpPr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13A5006A-48FD-0439-1788-7EB52867CA46}"/>
                </a:ext>
              </a:extLst>
            </p:cNvPr>
            <p:cNvSpPr/>
            <p:nvPr/>
          </p:nvSpPr>
          <p:spPr>
            <a:xfrm>
              <a:off x="5715000" y="220539"/>
              <a:ext cx="1981200" cy="512262"/>
            </a:xfrm>
            <a:prstGeom prst="parallelogram">
              <a:avLst>
                <a:gd name="adj" fmla="val 29578"/>
              </a:avLst>
            </a:prstGeom>
            <a:gradFill flip="none" rotWithShape="1">
              <a:gsLst>
                <a:gs pos="0">
                  <a:srgbClr val="44BBCA"/>
                </a:gs>
                <a:gs pos="100000">
                  <a:srgbClr val="28808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spaço Reservado para Texto 43">
              <a:extLst>
                <a:ext uri="{FF2B5EF4-FFF2-40B4-BE49-F238E27FC236}">
                  <a16:creationId xmlns:a16="http://schemas.microsoft.com/office/drawing/2014/main" id="{1EC4AF87-64FD-1958-093B-3402E0C1D29B}"/>
                </a:ext>
              </a:extLst>
            </p:cNvPr>
            <p:cNvSpPr txBox="1">
              <a:spLocks/>
            </p:cNvSpPr>
            <p:nvPr/>
          </p:nvSpPr>
          <p:spPr>
            <a:xfrm>
              <a:off x="5892214" y="311681"/>
              <a:ext cx="1626771" cy="329979"/>
            </a:xfrm>
            <a:prstGeom prst="rect">
              <a:avLst/>
            </a:prstGeom>
          </p:spPr>
          <p:txBody>
            <a:bodyPr rtlCol="0"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BR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lish"/>
                </a:rPr>
                <a:t>RAG: Casos de uso</a:t>
              </a:r>
              <a:endPara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sh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5A30A9E-7161-0C22-3C2D-8C6777C36D07}"/>
              </a:ext>
            </a:extLst>
          </p:cNvPr>
          <p:cNvSpPr/>
          <p:nvPr/>
        </p:nvSpPr>
        <p:spPr>
          <a:xfrm>
            <a:off x="4186163" y="4828478"/>
            <a:ext cx="3497027" cy="455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941B3CD-9334-4024-E236-DC8C376B8C6C}"/>
              </a:ext>
            </a:extLst>
          </p:cNvPr>
          <p:cNvSpPr txBox="1"/>
          <p:nvPr/>
        </p:nvSpPr>
        <p:spPr>
          <a:xfrm>
            <a:off x="803192" y="1740008"/>
            <a:ext cx="934525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/>
              <a:t>Casos de uso comuns</a:t>
            </a:r>
          </a:p>
          <a:p>
            <a:r>
              <a:rPr lang="pt-BR"/>
              <a:t>Os sistemas RAG são flexíveis e podem ser usados ​​de diversas maneiras, seja por um indivíduo ou por uma equipe inteira.</a:t>
            </a:r>
          </a:p>
          <a:p>
            <a:endParaRPr lang="pt-BR"/>
          </a:p>
          <a:p>
            <a:pPr marL="342900" indent="-342900">
              <a:buFont typeface="+mj-lt"/>
              <a:buAutoNum type="arabicPeriod"/>
            </a:pPr>
            <a:r>
              <a:rPr lang="pt-BR" b="1"/>
              <a:t>Resposta a perguntas: </a:t>
            </a:r>
            <a:r>
              <a:rPr lang="pt-BR"/>
              <a:t>os modelos RAG brilham quando solicitados a responder perguntas, pois podem obter os detalhes necessários de fontes relevantes e elaborar uma resposta clara e informativa, citando onde a informação foi encontrada.</a:t>
            </a:r>
          </a:p>
          <a:p>
            <a:pPr marL="342900" indent="-342900">
              <a:buFont typeface="+mj-lt"/>
              <a:buAutoNum type="arabicPeriod"/>
            </a:pPr>
            <a:r>
              <a:rPr lang="pt-BR" b="1"/>
              <a:t>Resumo de documentos: </a:t>
            </a:r>
            <a:r>
              <a:rPr lang="pt-BR"/>
              <a:t>Diante de documentos extensos, o RAG pode identificar os pontos principais e resumi-los em resumos curtos e digeríveis.</a:t>
            </a:r>
          </a:p>
          <a:p>
            <a:pPr marL="342900" indent="-342900">
              <a:buFont typeface="+mj-lt"/>
              <a:buAutoNum type="arabicPeriod"/>
            </a:pPr>
            <a:r>
              <a:rPr lang="pt-BR" b="1"/>
              <a:t>Geração de Conteúdo: </a:t>
            </a:r>
            <a:r>
              <a:rPr lang="pt-BR"/>
              <a:t>Ao criar artigos ou relatórios, o RAG auxilia incorporando informações pertinentes de várias fontes em uma peça coesa. Você pode até usá-lo para escrever e-mails.</a:t>
            </a:r>
          </a:p>
          <a:p>
            <a:pPr marL="342900" indent="-342900">
              <a:buFont typeface="+mj-lt"/>
              <a:buAutoNum type="arabicPeriod"/>
            </a:pPr>
            <a:endParaRPr lang="pt-BR"/>
          </a:p>
          <a:p>
            <a:r>
              <a:rPr lang="pt-BR"/>
              <a:t>Esses exemplos apenas são apenas a ponta do iceberg do que é possível com o RAG. À medida que as pessoas continuam a experimentar e a inovar, surgem ainda mais aplicações, expandindo as formas como podemos utilizar esta tecnologia.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540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1;p26">
            <a:extLst>
              <a:ext uri="{FF2B5EF4-FFF2-40B4-BE49-F238E27FC236}">
                <a16:creationId xmlns:a16="http://schemas.microsoft.com/office/drawing/2014/main" id="{01BFC755-9ECA-9EC7-B480-AB038B42E085}"/>
              </a:ext>
            </a:extLst>
          </p:cNvPr>
          <p:cNvSpPr txBox="1">
            <a:spLocks/>
          </p:cNvSpPr>
          <p:nvPr/>
        </p:nvSpPr>
        <p:spPr>
          <a:xfrm>
            <a:off x="803192" y="1227746"/>
            <a:ext cx="4772504" cy="202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800"/>
              </a:spcAft>
              <a:buClr>
                <a:srgbClr val="44BBCA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sansLight" panose="02000603020000020003"/>
              <a:ea typeface="+mn-ea"/>
              <a:cs typeface="+mn-cs"/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2812210F-9B13-5D25-0846-804CBA735F8A}"/>
              </a:ext>
            </a:extLst>
          </p:cNvPr>
          <p:cNvGrpSpPr/>
          <p:nvPr/>
        </p:nvGrpSpPr>
        <p:grpSpPr>
          <a:xfrm>
            <a:off x="773528" y="805451"/>
            <a:ext cx="5322471" cy="512262"/>
            <a:chOff x="5715000" y="220539"/>
            <a:chExt cx="1981200" cy="512262"/>
          </a:xfrm>
        </p:grpSpPr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13A5006A-48FD-0439-1788-7EB52867CA46}"/>
                </a:ext>
              </a:extLst>
            </p:cNvPr>
            <p:cNvSpPr/>
            <p:nvPr/>
          </p:nvSpPr>
          <p:spPr>
            <a:xfrm>
              <a:off x="5715000" y="220539"/>
              <a:ext cx="1981200" cy="512262"/>
            </a:xfrm>
            <a:prstGeom prst="parallelogram">
              <a:avLst>
                <a:gd name="adj" fmla="val 29578"/>
              </a:avLst>
            </a:prstGeom>
            <a:gradFill flip="none" rotWithShape="1">
              <a:gsLst>
                <a:gs pos="0">
                  <a:srgbClr val="44BBCA"/>
                </a:gs>
                <a:gs pos="100000">
                  <a:srgbClr val="28808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spaço Reservado para Texto 43">
              <a:extLst>
                <a:ext uri="{FF2B5EF4-FFF2-40B4-BE49-F238E27FC236}">
                  <a16:creationId xmlns:a16="http://schemas.microsoft.com/office/drawing/2014/main" id="{1EC4AF87-64FD-1958-093B-3402E0C1D29B}"/>
                </a:ext>
              </a:extLst>
            </p:cNvPr>
            <p:cNvSpPr txBox="1">
              <a:spLocks/>
            </p:cNvSpPr>
            <p:nvPr/>
          </p:nvSpPr>
          <p:spPr>
            <a:xfrm>
              <a:off x="5892214" y="311681"/>
              <a:ext cx="1626771" cy="329979"/>
            </a:xfrm>
            <a:prstGeom prst="rect">
              <a:avLst/>
            </a:prstGeom>
          </p:spPr>
          <p:txBody>
            <a:bodyPr rtlCol="0"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BR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lish"/>
                </a:rPr>
                <a:t>RAG: Como funciona?</a:t>
              </a:r>
              <a:endPara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sh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5A30A9E-7161-0C22-3C2D-8C6777C36D07}"/>
              </a:ext>
            </a:extLst>
          </p:cNvPr>
          <p:cNvSpPr/>
          <p:nvPr/>
        </p:nvSpPr>
        <p:spPr>
          <a:xfrm>
            <a:off x="4186163" y="4828478"/>
            <a:ext cx="3497027" cy="455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Retrieval Augmented Generation (RAG): What, Why and How? | LLMStack">
            <a:extLst>
              <a:ext uri="{FF2B5EF4-FFF2-40B4-BE49-F238E27FC236}">
                <a16:creationId xmlns:a16="http://schemas.microsoft.com/office/drawing/2014/main" id="{44237A3D-AC6D-BC77-BACA-F70C8E04D9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" t="2014" r="2062" b="-1"/>
          <a:stretch/>
        </p:blipFill>
        <p:spPr bwMode="auto">
          <a:xfrm>
            <a:off x="1682151" y="1740008"/>
            <a:ext cx="7047781" cy="432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566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1;p26">
            <a:extLst>
              <a:ext uri="{FF2B5EF4-FFF2-40B4-BE49-F238E27FC236}">
                <a16:creationId xmlns:a16="http://schemas.microsoft.com/office/drawing/2014/main" id="{01BFC755-9ECA-9EC7-B480-AB038B42E085}"/>
              </a:ext>
            </a:extLst>
          </p:cNvPr>
          <p:cNvSpPr txBox="1">
            <a:spLocks/>
          </p:cNvSpPr>
          <p:nvPr/>
        </p:nvSpPr>
        <p:spPr>
          <a:xfrm>
            <a:off x="803192" y="1227746"/>
            <a:ext cx="4772504" cy="2021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800"/>
              </a:spcAft>
              <a:buClr>
                <a:srgbClr val="44BBCA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sansLight" panose="02000603020000020003"/>
              <a:ea typeface="+mn-ea"/>
              <a:cs typeface="+mn-cs"/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2812210F-9B13-5D25-0846-804CBA735F8A}"/>
              </a:ext>
            </a:extLst>
          </p:cNvPr>
          <p:cNvGrpSpPr/>
          <p:nvPr/>
        </p:nvGrpSpPr>
        <p:grpSpPr>
          <a:xfrm>
            <a:off x="773528" y="805451"/>
            <a:ext cx="5322471" cy="512262"/>
            <a:chOff x="5715000" y="220539"/>
            <a:chExt cx="1981200" cy="512262"/>
          </a:xfrm>
        </p:grpSpPr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13A5006A-48FD-0439-1788-7EB52867CA46}"/>
                </a:ext>
              </a:extLst>
            </p:cNvPr>
            <p:cNvSpPr/>
            <p:nvPr/>
          </p:nvSpPr>
          <p:spPr>
            <a:xfrm>
              <a:off x="5715000" y="220539"/>
              <a:ext cx="1981200" cy="512262"/>
            </a:xfrm>
            <a:prstGeom prst="parallelogram">
              <a:avLst>
                <a:gd name="adj" fmla="val 29578"/>
              </a:avLst>
            </a:prstGeom>
            <a:gradFill flip="none" rotWithShape="1">
              <a:gsLst>
                <a:gs pos="0">
                  <a:srgbClr val="44BBCA"/>
                </a:gs>
                <a:gs pos="100000">
                  <a:srgbClr val="28808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spaço Reservado para Texto 43">
              <a:extLst>
                <a:ext uri="{FF2B5EF4-FFF2-40B4-BE49-F238E27FC236}">
                  <a16:creationId xmlns:a16="http://schemas.microsoft.com/office/drawing/2014/main" id="{1EC4AF87-64FD-1958-093B-3402E0C1D29B}"/>
                </a:ext>
              </a:extLst>
            </p:cNvPr>
            <p:cNvSpPr txBox="1">
              <a:spLocks/>
            </p:cNvSpPr>
            <p:nvPr/>
          </p:nvSpPr>
          <p:spPr>
            <a:xfrm>
              <a:off x="5892214" y="311681"/>
              <a:ext cx="1626771" cy="329979"/>
            </a:xfrm>
            <a:prstGeom prst="rect">
              <a:avLst/>
            </a:prstGeom>
          </p:spPr>
          <p:txBody>
            <a:bodyPr rtlCol="0"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BR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ulish"/>
                </a:rPr>
                <a:t>RAG: Como funciona?</a:t>
              </a:r>
              <a:endPara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sh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5A30A9E-7161-0C22-3C2D-8C6777C36D07}"/>
              </a:ext>
            </a:extLst>
          </p:cNvPr>
          <p:cNvSpPr/>
          <p:nvPr/>
        </p:nvSpPr>
        <p:spPr>
          <a:xfrm>
            <a:off x="4186163" y="4828478"/>
            <a:ext cx="3497027" cy="455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E98705-BC4E-4152-E7F1-B9586399DAF4}"/>
              </a:ext>
            </a:extLst>
          </p:cNvPr>
          <p:cNvSpPr txBox="1"/>
          <p:nvPr/>
        </p:nvSpPr>
        <p:spPr>
          <a:xfrm>
            <a:off x="773528" y="1891022"/>
            <a:ext cx="8206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https://colab.research.google.com/drive/1lr3aqgXHT48L8VUB6pXXQBHzZymGm1K8?usp=drive_open#scrollTo=nMthGVFRmQ5a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CFFAD8-7D81-59B3-54B2-5D67C7A19F17}"/>
              </a:ext>
            </a:extLst>
          </p:cNvPr>
          <p:cNvSpPr txBox="1"/>
          <p:nvPr/>
        </p:nvSpPr>
        <p:spPr>
          <a:xfrm>
            <a:off x="649542" y="3716560"/>
            <a:ext cx="60947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Splitting: https://chunkviz.up.railway.app/</a:t>
            </a:r>
          </a:p>
        </p:txBody>
      </p:sp>
    </p:spTree>
    <p:extLst>
      <p:ext uri="{BB962C8B-B14F-4D97-AF65-F5344CB8AC3E}">
        <p14:creationId xmlns:p14="http://schemas.microsoft.com/office/powerpoint/2010/main" val="1682822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8E44A43-23E5-5C36-3315-B2A30842EAB4}"/>
              </a:ext>
            </a:extLst>
          </p:cNvPr>
          <p:cNvSpPr txBox="1"/>
          <p:nvPr/>
        </p:nvSpPr>
        <p:spPr>
          <a:xfrm>
            <a:off x="4308528" y="3130657"/>
            <a:ext cx="3580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0" i="0" u="none" strike="noStrike" kern="1200" cap="none" spc="0" normalizeH="0" baseline="0" noProof="0">
                <a:ln>
                  <a:noFill/>
                </a:ln>
                <a:solidFill>
                  <a:srgbClr val="44BBCA"/>
                </a:solidFill>
                <a:effectLst/>
                <a:uLnTx/>
                <a:uFillTx/>
                <a:latin typeface="Smooth Circulars" panose="00000400000000000000" pitchFamily="2" charset="0"/>
                <a:ea typeface="+mn-ea"/>
                <a:cs typeface="+mn-cs"/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3055038531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udent_Groups xmlns="3b47981c-61e2-4894-9b95-d78484a6277d">
      <UserInfo>
        <DisplayName/>
        <AccountId xsi:nil="true"/>
        <AccountType/>
      </UserInfo>
    </Student_Groups>
    <Distribution_Groups xmlns="3b47981c-61e2-4894-9b95-d78484a6277d" xsi:nil="true"/>
    <Math_Settings xmlns="3b47981c-61e2-4894-9b95-d78484a6277d" xsi:nil="true"/>
    <Templates xmlns="3b47981c-61e2-4894-9b95-d78484a6277d" xsi:nil="true"/>
    <AppVersion xmlns="3b47981c-61e2-4894-9b95-d78484a6277d" xsi:nil="true"/>
    <TeamsChannelId xmlns="3b47981c-61e2-4894-9b95-d78484a6277d" xsi:nil="true"/>
    <Invited_Teachers xmlns="3b47981c-61e2-4894-9b95-d78484a6277d" xsi:nil="true"/>
    <IsNotebookLocked xmlns="3b47981c-61e2-4894-9b95-d78484a6277d" xsi:nil="true"/>
    <Students xmlns="3b47981c-61e2-4894-9b95-d78484a6277d">
      <UserInfo>
        <DisplayName/>
        <AccountId xsi:nil="true"/>
        <AccountType/>
      </UserInfo>
    </Students>
    <Has_Teacher_Only_SectionGroup xmlns="3b47981c-61e2-4894-9b95-d78484a6277d" xsi:nil="true"/>
    <FolderType xmlns="3b47981c-61e2-4894-9b95-d78484a6277d" xsi:nil="true"/>
    <Teachers xmlns="3b47981c-61e2-4894-9b95-d78484a6277d">
      <UserInfo>
        <DisplayName/>
        <AccountId xsi:nil="true"/>
        <AccountType/>
      </UserInfo>
    </Teachers>
    <lcf76f155ced4ddcb4097134ff3c332f xmlns="3b47981c-61e2-4894-9b95-d78484a6277d">
      <Terms xmlns="http://schemas.microsoft.com/office/infopath/2007/PartnerControls"/>
    </lcf76f155ced4ddcb4097134ff3c332f>
    <Self_Registration_Enabled xmlns="3b47981c-61e2-4894-9b95-d78484a6277d" xsi:nil="true"/>
    <LMS_Mappings xmlns="3b47981c-61e2-4894-9b95-d78484a6277d" xsi:nil="true"/>
    <NotebookType xmlns="3b47981c-61e2-4894-9b95-d78484a6277d" xsi:nil="true"/>
    <DefaultSectionNames xmlns="3b47981c-61e2-4894-9b95-d78484a6277d" xsi:nil="true"/>
    <Is_Collaboration_Space_Locked xmlns="3b47981c-61e2-4894-9b95-d78484a6277d" xsi:nil="true"/>
    <Teams_Channel_Section_Location xmlns="3b47981c-61e2-4894-9b95-d78484a6277d" xsi:nil="true"/>
    <CultureName xmlns="3b47981c-61e2-4894-9b95-d78484a6277d" xsi:nil="true"/>
    <Owner xmlns="3b47981c-61e2-4894-9b95-d78484a6277d">
      <UserInfo>
        <DisplayName/>
        <AccountId xsi:nil="true"/>
        <AccountType/>
      </UserInfo>
    </Owner>
    <TaxCatchAll xmlns="b466e2c2-c6c4-42b9-a506-879fde1702df" xsi:nil="true"/>
    <Invited_Students xmlns="3b47981c-61e2-4894-9b95-d78484a6277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7D49A8764A5C48814EF56013A935E1" ma:contentTypeVersion="31" ma:contentTypeDescription="Crie um novo documento." ma:contentTypeScope="" ma:versionID="d332069d700524d931045f19585e3b85">
  <xsd:schema xmlns:xsd="http://www.w3.org/2001/XMLSchema" xmlns:xs="http://www.w3.org/2001/XMLSchema" xmlns:p="http://schemas.microsoft.com/office/2006/metadata/properties" xmlns:ns2="3b47981c-61e2-4894-9b95-d78484a6277d" xmlns:ns3="b466e2c2-c6c4-42b9-a506-879fde1702df" targetNamespace="http://schemas.microsoft.com/office/2006/metadata/properties" ma:root="true" ma:fieldsID="3ac66ac502a58fee19745c23256b2333" ns2:_="" ns3:_="">
    <xsd:import namespace="3b47981c-61e2-4894-9b95-d78484a6277d"/>
    <xsd:import namespace="b466e2c2-c6c4-42b9-a506-879fde1702df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7981c-61e2-4894-9b95-d78484a6277d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66e2c2-c6c4-42b9-a506-879fde1702df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c2406d02-c3d6-462d-89f3-6f3d24d21699}" ma:internalName="TaxCatchAll" ma:showField="CatchAllData" ma:web="b466e2c2-c6c4-42b9-a506-879fde1702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CF2E85-C5D2-4B93-BCB2-CC0070A791DC}">
  <ds:schemaRefs>
    <ds:schemaRef ds:uri="3b47981c-61e2-4894-9b95-d78484a6277d"/>
    <ds:schemaRef ds:uri="b466e2c2-c6c4-42b9-a506-879fde1702df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7D996B9-14C9-49C7-9674-16FA224CBD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85795F-F938-4044-984A-08E04181B8A4}">
  <ds:schemaRefs>
    <ds:schemaRef ds:uri="3b47981c-61e2-4894-9b95-d78484a6277d"/>
    <ds:schemaRef ds:uri="b466e2c2-c6c4-42b9-a506-879fde1702d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generative_ai_01</Template>
  <Application>Microsoft Office PowerPoint</Application>
  <PresentationFormat>Widescreen</PresentationFormat>
  <Slides>8</Slides>
  <Notes>1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1_Tema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Maia Neto</dc:creator>
  <cp:revision>1</cp:revision>
  <dcterms:created xsi:type="dcterms:W3CDTF">2024-02-20T05:45:14Z</dcterms:created>
  <dcterms:modified xsi:type="dcterms:W3CDTF">2026-08-15T00:38:24Z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0x010100A37D49A8764A5C48814EF56013A935E1</vt:lpwstr>
  </property>
  <property fmtid="{D5CDD505-2E9C-101B-9397-08002B2CF9AE}" pid="3" name="MediaServiceImageTags">
    <vt:lpwstr/>
  </property>
</Properties>
</file>