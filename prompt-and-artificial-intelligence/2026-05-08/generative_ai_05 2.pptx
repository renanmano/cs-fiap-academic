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494" r:id="rId5"/>
    <p:sldId id="539" r:id="rId6"/>
    <p:sldId id="541" r:id="rId7"/>
    <p:sldId id="512" r:id="rId8"/>
    <p:sldId id="542" r:id="rId9"/>
    <p:sldId id="543" r:id="rId10"/>
    <p:sldId id="544" r:id="rId11"/>
    <p:sldId id="4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BBCA"/>
    <a:srgbClr val="28808C"/>
    <a:srgbClr val="E8E8E8"/>
    <a:srgbClr val="3B3838"/>
    <a:srgbClr val="EFEFEF"/>
    <a:srgbClr val="F2F2F2"/>
    <a:srgbClr val="E1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47BEA-6A3B-9BA0-5AD5-14C40D581F9D}" v="4" dt="2026-05-08T22:41:05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o César Portela França" userId="S::rm573127@fiap.com.br::39132b3e-ae45-417d-ad38-f20ddc2726a1" providerId="AD" clId="Web-{B8E47BEA-6A3B-9BA0-5AD5-14C40D581F9D}"/>
    <pc:docChg chg="modSld">
      <pc:chgData name="Caio César Portela França" userId="S::rm573127@fiap.com.br::39132b3e-ae45-417d-ad38-f20ddc2726a1" providerId="AD" clId="Web-{B8E47BEA-6A3B-9BA0-5AD5-14C40D581F9D}" dt="2026-05-08T22:41:05.456" v="3"/>
      <pc:docMkLst>
        <pc:docMk/>
      </pc:docMkLst>
      <pc:sldChg chg="mod modShow">
        <pc:chgData name="Caio César Portela França" userId="S::rm573127@fiap.com.br::39132b3e-ae45-417d-ad38-f20ddc2726a1" providerId="AD" clId="Web-{B8E47BEA-6A3B-9BA0-5AD5-14C40D581F9D}" dt="2026-05-08T22:41:05.456" v="3"/>
        <pc:sldMkLst>
          <pc:docMk/>
          <pc:sldMk cId="7252165" sldId="4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1264E-AC11-49ED-AD2F-803236C938B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53D7E-9AFB-4117-96C0-896D5056A6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1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8D56D-E775-477C-AD95-1624ABAC5B3D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10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31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12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18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04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2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85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69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91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153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52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54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EA898-6C31-4D9A-9050-0C7575745A8F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68E47-1DA0-471C-80CF-D1753B2158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15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0088-560C-94BA-9C03-0E07A318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016CDF6-E1F0-2D49-F806-FED876A5B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6" b="7746"/>
          <a:stretch/>
        </p:blipFill>
        <p:spPr bwMode="auto">
          <a:xfrm>
            <a:off x="5692571" y="0"/>
            <a:ext cx="8115299" cy="6858000"/>
          </a:xfrm>
          <a:custGeom>
            <a:avLst/>
            <a:gdLst>
              <a:gd name="connsiteX0" fmla="*/ 1399375 w 8115299"/>
              <a:gd name="connsiteY0" fmla="*/ 0 h 6858000"/>
              <a:gd name="connsiteX1" fmla="*/ 8115299 w 8115299"/>
              <a:gd name="connsiteY1" fmla="*/ 0 h 6858000"/>
              <a:gd name="connsiteX2" fmla="*/ 6715924 w 8115299"/>
              <a:gd name="connsiteY2" fmla="*/ 6858000 h 6858000"/>
              <a:gd name="connsiteX3" fmla="*/ 0 w 81152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5299" h="6858000">
                <a:moveTo>
                  <a:pt x="1399375" y="0"/>
                </a:moveTo>
                <a:lnTo>
                  <a:pt x="8115299" y="0"/>
                </a:lnTo>
                <a:lnTo>
                  <a:pt x="67159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ço Reservado para Texto 43">
            <a:extLst>
              <a:ext uri="{FF2B5EF4-FFF2-40B4-BE49-F238E27FC236}">
                <a16:creationId xmlns:a16="http://schemas.microsoft.com/office/drawing/2014/main" id="{9DFCF87E-5DE6-BEEE-F780-ED611388B6F5}"/>
              </a:ext>
            </a:extLst>
          </p:cNvPr>
          <p:cNvSpPr txBox="1">
            <a:spLocks/>
          </p:cNvSpPr>
          <p:nvPr/>
        </p:nvSpPr>
        <p:spPr>
          <a:xfrm>
            <a:off x="576271" y="2145234"/>
            <a:ext cx="4705943" cy="1736049"/>
          </a:xfrm>
          <a:prstGeom prst="rect">
            <a:avLst/>
          </a:prstGeom>
        </p:spPr>
        <p:txBody>
          <a:bodyPr rtlCol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 panose="02000500000000000000" pitchFamily="2" charset="0"/>
                <a:ea typeface="+mn-ea"/>
                <a:cs typeface="+mn-cs"/>
              </a:rPr>
              <a:t>Embeddings</a:t>
            </a: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 panose="02000500000000000000" pitchFamily="2" charset="0"/>
                <a:ea typeface="+mn-ea"/>
                <a:cs typeface="+mn-cs"/>
              </a:rPr>
              <a:t> + </a:t>
            </a:r>
            <a:r>
              <a:rPr kumimoji="0" lang="pt-BR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 panose="02000500000000000000" pitchFamily="2" charset="0"/>
                <a:ea typeface="+mn-ea"/>
                <a:cs typeface="+mn-cs"/>
              </a:rPr>
              <a:t>Gen</a:t>
            </a: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 panose="02000500000000000000" pitchFamily="2" charset="0"/>
                <a:ea typeface="+mn-ea"/>
                <a:cs typeface="+mn-cs"/>
              </a:rPr>
              <a:t> AI = RAG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44BBCA"/>
              </a:solidFill>
              <a:effectLst/>
              <a:uLnTx/>
              <a:uFillTx/>
              <a:latin typeface="Smooth Circulars" panose="000004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Word </a:t>
              </a:r>
              <a:r>
                <a:rPr kumimoji="0" lang="pt-BR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representation</a:t>
              </a:r>
              <a:endPara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8D0225-3BB4-59E8-A18B-F564FAB58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92" y="4310786"/>
            <a:ext cx="6187816" cy="2409191"/>
          </a:xfrm>
          <a:prstGeom prst="rect">
            <a:avLst/>
          </a:prstGeom>
        </p:spPr>
      </p:pic>
      <p:pic>
        <p:nvPicPr>
          <p:cNvPr id="5122" name="Picture 2" descr="A Guide to Word Embedding. What are they? How are they more useful… | by  Shraddha Anala | Towards Data Science">
            <a:extLst>
              <a:ext uri="{FF2B5EF4-FFF2-40B4-BE49-F238E27FC236}">
                <a16:creationId xmlns:a16="http://schemas.microsoft.com/office/drawing/2014/main" id="{A1411EB5-5FC8-C6DD-4BAF-110B7B1E5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06" y="1408855"/>
            <a:ext cx="8005313" cy="309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87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Word </a:t>
              </a:r>
              <a:r>
                <a:rPr kumimoji="0" lang="pt-BR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representation</a:t>
              </a:r>
              <a:endPara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E2EB0B-39DF-F858-31A7-32110A7A288B}"/>
              </a:ext>
            </a:extLst>
          </p:cNvPr>
          <p:cNvSpPr txBox="1"/>
          <p:nvPr/>
        </p:nvSpPr>
        <p:spPr>
          <a:xfrm>
            <a:off x="1962044" y="586788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https://projector.tensorflow.org/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9CE66E4-8830-CBBA-4C29-3106CE483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79" y="1573659"/>
            <a:ext cx="6289346" cy="395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4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O que é RAG</a:t>
              </a: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41B3CD-9334-4024-E236-DC8C376B8C6C}"/>
              </a:ext>
            </a:extLst>
          </p:cNvPr>
          <p:cNvSpPr txBox="1"/>
          <p:nvPr/>
        </p:nvSpPr>
        <p:spPr>
          <a:xfrm>
            <a:off x="773527" y="1735033"/>
            <a:ext cx="93452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Retrieval-Augmented Generation (RAG) </a:t>
            </a:r>
            <a:r>
              <a:rPr lang="en-US" dirty="0"/>
              <a:t>é um </a:t>
            </a:r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conhecimento</a:t>
            </a:r>
            <a:r>
              <a:rPr lang="en-US" dirty="0"/>
              <a:t> que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fornecer</a:t>
            </a:r>
            <a:r>
              <a:rPr lang="en-US" dirty="0"/>
              <a:t> um ChatGPT </a:t>
            </a:r>
            <a:r>
              <a:rPr lang="en-US" dirty="0" err="1"/>
              <a:t>pessoal</a:t>
            </a:r>
            <a:r>
              <a:rPr lang="en-US" dirty="0"/>
              <a:t> para </a:t>
            </a:r>
            <a:r>
              <a:rPr lang="en-US" dirty="0" err="1"/>
              <a:t>os</a:t>
            </a:r>
            <a:r>
              <a:rPr lang="en-US" dirty="0"/>
              <a:t> dados da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empresa</a:t>
            </a:r>
            <a:r>
              <a:rPr lang="en-US" dirty="0"/>
              <a:t>, </a:t>
            </a:r>
            <a:r>
              <a:rPr lang="en-US" dirty="0" err="1"/>
              <a:t>facilitando</a:t>
            </a:r>
            <a:r>
              <a:rPr lang="en-US" dirty="0"/>
              <a:t> a </a:t>
            </a:r>
            <a:r>
              <a:rPr lang="en-US" dirty="0" err="1"/>
              <a:t>localização</a:t>
            </a:r>
            <a:r>
              <a:rPr lang="en-US" dirty="0"/>
              <a:t> e </a:t>
            </a:r>
            <a:r>
              <a:rPr lang="en-US" dirty="0" err="1"/>
              <a:t>utilização</a:t>
            </a:r>
            <a:r>
              <a:rPr lang="en-US" dirty="0"/>
              <a:t> do </a:t>
            </a:r>
            <a:r>
              <a:rPr lang="en-US" dirty="0" err="1"/>
              <a:t>conhecimento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.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ajudá</a:t>
            </a:r>
            <a:r>
              <a:rPr lang="en-US" dirty="0"/>
              <a:t>-lo a </a:t>
            </a:r>
            <a:r>
              <a:rPr lang="en-US" dirty="0" err="1"/>
              <a:t>interagir</a:t>
            </a:r>
            <a:r>
              <a:rPr lang="en-US" dirty="0"/>
              <a:t> com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grande</a:t>
            </a:r>
            <a:r>
              <a:rPr lang="en-US" dirty="0"/>
              <a:t> 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informações</a:t>
            </a:r>
            <a:r>
              <a:rPr lang="en-US" dirty="0"/>
              <a:t> de forma </a:t>
            </a:r>
            <a:r>
              <a:rPr lang="en-US" dirty="0" err="1"/>
              <a:t>rápida</a:t>
            </a:r>
            <a:r>
              <a:rPr lang="en-US" dirty="0"/>
              <a:t> e </a:t>
            </a:r>
            <a:r>
              <a:rPr lang="en-US" dirty="0" err="1"/>
              <a:t>eficiente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RAG </a:t>
            </a:r>
            <a:r>
              <a:rPr lang="en-US" dirty="0" err="1"/>
              <a:t>funcionam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duas </a:t>
            </a:r>
            <a:r>
              <a:rPr lang="en-US" dirty="0" err="1"/>
              <a:t>etapas</a:t>
            </a:r>
            <a:r>
              <a:rPr lang="en-US" dirty="0"/>
              <a:t>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Recuperação</a:t>
            </a:r>
            <a:r>
              <a:rPr lang="en-US" b="1" dirty="0"/>
              <a:t>: </a:t>
            </a:r>
            <a:r>
              <a:rPr lang="en-US" dirty="0"/>
              <a:t>O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vasculha</a:t>
            </a:r>
            <a:r>
              <a:rPr lang="en-US" dirty="0"/>
              <a:t> </a:t>
            </a:r>
            <a:r>
              <a:rPr lang="en-US" dirty="0" err="1"/>
              <a:t>seus</a:t>
            </a:r>
            <a:r>
              <a:rPr lang="en-US" dirty="0"/>
              <a:t> dados para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úteis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Geração</a:t>
            </a:r>
            <a:r>
              <a:rPr lang="en-US" b="1" dirty="0"/>
              <a:t>: </a:t>
            </a:r>
            <a:r>
              <a:rPr lang="en-US" dirty="0"/>
              <a:t>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generativo</a:t>
            </a:r>
            <a:r>
              <a:rPr lang="en-US" dirty="0"/>
              <a:t> de IA </a:t>
            </a:r>
            <a:r>
              <a:rPr lang="en-US" dirty="0" err="1"/>
              <a:t>usa</a:t>
            </a:r>
            <a:r>
              <a:rPr lang="en-US" dirty="0"/>
              <a:t> as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recuperadas</a:t>
            </a:r>
            <a:r>
              <a:rPr lang="en-US" dirty="0"/>
              <a:t> para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respostas</a:t>
            </a:r>
            <a:r>
              <a:rPr lang="en-US" dirty="0"/>
              <a:t> </a:t>
            </a:r>
            <a:r>
              <a:rPr lang="en-US" dirty="0" err="1"/>
              <a:t>claras</a:t>
            </a:r>
            <a:r>
              <a:rPr lang="en-US" dirty="0"/>
              <a:t> e </a:t>
            </a:r>
            <a:r>
              <a:rPr lang="en-US" dirty="0" err="1"/>
              <a:t>precisas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perguntas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859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RAG: Casos de uso</a:t>
              </a: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41B3CD-9334-4024-E236-DC8C376B8C6C}"/>
              </a:ext>
            </a:extLst>
          </p:cNvPr>
          <p:cNvSpPr txBox="1"/>
          <p:nvPr/>
        </p:nvSpPr>
        <p:spPr>
          <a:xfrm>
            <a:off x="803192" y="1740008"/>
            <a:ext cx="934525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Casos de uso comuns</a:t>
            </a:r>
          </a:p>
          <a:p>
            <a:r>
              <a:rPr lang="pt-BR" dirty="0"/>
              <a:t>Os sistemas RAG são flexíveis e podem ser usados ​​de diversas maneiras, seja por um indivíduo ou por uma equipe inteira.</a:t>
            </a:r>
          </a:p>
          <a:p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Resposta a perguntas: </a:t>
            </a:r>
            <a:r>
              <a:rPr lang="pt-BR" dirty="0"/>
              <a:t>os modelos RAG brilham quando solicitados a responder perguntas, pois podem obter os detalhes necessários de fontes relevantes e elaborar uma resposta clara e informativa, citando onde a informação foi encontrada.</a:t>
            </a:r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Resumo de documentos: </a:t>
            </a:r>
            <a:r>
              <a:rPr lang="pt-BR" dirty="0"/>
              <a:t>Diante de documentos extensos, o RAG pode identificar os pontos principais e resumi-los em resumos curtos e digeríveis.</a:t>
            </a:r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Geração de Conteúdo: </a:t>
            </a:r>
            <a:r>
              <a:rPr lang="pt-BR" dirty="0"/>
              <a:t>Ao criar artigos ou relatórios, o RAG auxilia incorporando informações pertinentes de várias fontes em uma peça coesa. Você pode até usá-lo para escrever e-mails.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r>
              <a:rPr lang="pt-BR" dirty="0"/>
              <a:t>Esses exemplos apenas são apenas a ponta do iceberg do que é possível com o RAG. À medida que as pessoas continuam a experimentar e a inovar, surgem ainda mais aplicações, expandindo as formas como podemos utilizar esta tecnologia.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4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RAG: Como funciona?</a:t>
              </a: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Retrieval Augmented Generation (RAG): What, Why and How? | LLMStack">
            <a:extLst>
              <a:ext uri="{FF2B5EF4-FFF2-40B4-BE49-F238E27FC236}">
                <a16:creationId xmlns:a16="http://schemas.microsoft.com/office/drawing/2014/main" id="{44237A3D-AC6D-BC77-BACA-F70C8E04D9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2014" r="2062" b="-1"/>
          <a:stretch/>
        </p:blipFill>
        <p:spPr bwMode="auto">
          <a:xfrm>
            <a:off x="1682151" y="1740008"/>
            <a:ext cx="7047781" cy="432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56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RAG: Como funciona?</a:t>
              </a: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E98705-BC4E-4152-E7F1-B9586399DAF4}"/>
              </a:ext>
            </a:extLst>
          </p:cNvPr>
          <p:cNvSpPr txBox="1"/>
          <p:nvPr/>
        </p:nvSpPr>
        <p:spPr>
          <a:xfrm>
            <a:off x="773528" y="1891022"/>
            <a:ext cx="8206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https://colab.research.google.com/drive/1lr3aqgXHT48L8VUB6pXXQBHzZymGm1K8?usp=drive_open#scrollTo=nMthGVFRmQ5a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CFFAD8-7D81-59B3-54B2-5D67C7A19F17}"/>
              </a:ext>
            </a:extLst>
          </p:cNvPr>
          <p:cNvSpPr txBox="1"/>
          <p:nvPr/>
        </p:nvSpPr>
        <p:spPr>
          <a:xfrm>
            <a:off x="649542" y="3716560"/>
            <a:ext cx="60947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Splitting: https://chunkviz.up.railway.app/</a:t>
            </a:r>
          </a:p>
        </p:txBody>
      </p:sp>
    </p:spTree>
    <p:extLst>
      <p:ext uri="{BB962C8B-B14F-4D97-AF65-F5344CB8AC3E}">
        <p14:creationId xmlns:p14="http://schemas.microsoft.com/office/powerpoint/2010/main" val="168282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E44A43-23E5-5C36-3315-B2A30842EAB4}"/>
              </a:ext>
            </a:extLst>
          </p:cNvPr>
          <p:cNvSpPr txBox="1"/>
          <p:nvPr/>
        </p:nvSpPr>
        <p:spPr>
          <a:xfrm>
            <a:off x="4308528" y="3130657"/>
            <a:ext cx="3580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srgbClr val="44BBCA"/>
                </a:solidFill>
                <a:effectLst/>
                <a:uLnTx/>
                <a:uFillTx/>
                <a:latin typeface="Smooth Circulars" panose="00000400000000000000" pitchFamily="2" charset="0"/>
                <a:ea typeface="+mn-ea"/>
                <a:cs typeface="+mn-cs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305503853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1" ma:contentTypeDescription="Criar um novo documento." ma:contentTypeScope="" ma:versionID="f5f1ef07706b406958a106843120b290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4455df2816b43722076174decab90b58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Etiqueta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c2406d02-c3d6-462d-89f3-6f3d24d21699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A4B047-3FB9-49F7-8C84-D685A901B308}">
  <ds:schemaRefs>
    <ds:schemaRef ds:uri="http://schemas.microsoft.com/office/2006/metadata/properties"/>
    <ds:schemaRef ds:uri="http://schemas.microsoft.com/office/infopath/2007/PartnerControls"/>
    <ds:schemaRef ds:uri="3b47981c-61e2-4894-9b95-d78484a6277d"/>
    <ds:schemaRef ds:uri="b466e2c2-c6c4-42b9-a506-879fde1702df"/>
  </ds:schemaRefs>
</ds:datastoreItem>
</file>

<file path=customXml/itemProps2.xml><?xml version="1.0" encoding="utf-8"?>
<ds:datastoreItem xmlns:ds="http://schemas.openxmlformats.org/officeDocument/2006/customXml" ds:itemID="{C675E315-5D75-4BBD-BF31-2FC5B22C51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71126C-1375-4D67-90BB-D929C22A789A}"/>
</file>

<file path=docProps/app.xml><?xml version="1.0" encoding="utf-8"?>
<Properties xmlns="http://schemas.openxmlformats.org/officeDocument/2006/extended-properties" xmlns:vt="http://schemas.openxmlformats.org/officeDocument/2006/docPropsVTypes">
  <Template>generative_ai_01</Template>
  <TotalTime>576</TotalTime>
  <Words>328</Words>
  <Application>Microsoft Office PowerPoint</Application>
  <PresentationFormat>Ecrã Panorâmico</PresentationFormat>
  <Paragraphs>27</Paragraphs>
  <Slides>8</Slides>
  <Notes>1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9" baseType="lpstr"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Maia Neto</dc:creator>
  <cp:lastModifiedBy>José Maia Neto</cp:lastModifiedBy>
  <cp:revision>13</cp:revision>
  <dcterms:created xsi:type="dcterms:W3CDTF">2024-02-20T05:45:14Z</dcterms:created>
  <dcterms:modified xsi:type="dcterms:W3CDTF">2026-05-08T22:41:13Z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  <property fmtid="{D5CDD505-2E9C-101B-9397-08002B2CF9AE}" pid="3" name="MediaServiceImageTags">
    <vt:lpwstr/>
  </property>
</Properties>
</file>